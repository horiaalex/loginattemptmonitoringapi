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66" r:id="rId3"/>
    <p:sldId id="271" r:id="rId4"/>
    <p:sldId id="270" r:id="rId5"/>
    <p:sldId id="269" r:id="rId6"/>
    <p:sldId id="272" r:id="rId7"/>
    <p:sldId id="273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5AB49F9-9106-EE44-A5E9-55ADE3CF12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029FA28-E9F4-E441-8334-9508A16F5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6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49F9-9106-EE44-A5E9-55ADE3CF12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FA28-E9F4-E441-8334-9508A16F5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65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49F9-9106-EE44-A5E9-55ADE3CF12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FA28-E9F4-E441-8334-9508A16F5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20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49F9-9106-EE44-A5E9-55ADE3CF12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FA28-E9F4-E441-8334-9508A16F5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6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49F9-9106-EE44-A5E9-55ADE3CF12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FA28-E9F4-E441-8334-9508A16F5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43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49F9-9106-EE44-A5E9-55ADE3CF12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FA28-E9F4-E441-8334-9508A16F5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04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49F9-9106-EE44-A5E9-55ADE3CF12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FA28-E9F4-E441-8334-9508A16F5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44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49F9-9106-EE44-A5E9-55ADE3CF12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FA28-E9F4-E441-8334-9508A16F5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33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49F9-9106-EE44-A5E9-55ADE3CF12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FA28-E9F4-E441-8334-9508A16F5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85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49F9-9106-EE44-A5E9-55ADE3CF12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FA28-E9F4-E441-8334-9508A16F5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690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49F9-9106-EE44-A5E9-55ADE3CF12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FA28-E9F4-E441-8334-9508A16F5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18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49F9-9106-EE44-A5E9-55ADE3CF12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FA28-E9F4-E441-8334-9508A16F5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909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49F9-9106-EE44-A5E9-55ADE3CF12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FA28-E9F4-E441-8334-9508A16F5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77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49F9-9106-EE44-A5E9-55ADE3CF12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FA28-E9F4-E441-8334-9508A16F5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987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B49F9-9106-EE44-A5E9-55ADE3CF12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FA28-E9F4-E441-8334-9508A16F5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119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5AB49F9-9106-EE44-A5E9-55ADE3CF12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FA28-E9F4-E441-8334-9508A16F5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911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5AB49F9-9106-EE44-A5E9-55ADE3CF12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9FA28-E9F4-E441-8334-9508A16F5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469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5AB49F9-9106-EE44-A5E9-55ADE3CF125B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029FA28-E9F4-E441-8334-9508A16F5A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85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3339" y="2310384"/>
            <a:ext cx="7765322" cy="97045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effectLst/>
              </a:rPr>
              <a:t>Login Attempt Monitoring API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4F07D1-115D-6729-9329-0491757643DD}"/>
              </a:ext>
            </a:extLst>
          </p:cNvPr>
          <p:cNvSpPr txBox="1">
            <a:spLocks/>
          </p:cNvSpPr>
          <p:nvPr/>
        </p:nvSpPr>
        <p:spPr>
          <a:xfrm>
            <a:off x="2576051" y="4803648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9E975A4-7F81-D43F-3DDF-66E412300558}"/>
              </a:ext>
            </a:extLst>
          </p:cNvPr>
          <p:cNvSpPr txBox="1">
            <a:spLocks/>
          </p:cNvSpPr>
          <p:nvPr/>
        </p:nvSpPr>
        <p:spPr>
          <a:xfrm>
            <a:off x="2576051" y="5774098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en-US" sz="1800" dirty="0">
                <a:effectLst/>
              </a:rPr>
              <a:t>Horia-Alexandru STĂNESCU</a:t>
            </a:r>
          </a:p>
          <a:p>
            <a:pPr algn="r"/>
            <a:r>
              <a:rPr lang="en-US" sz="1800" dirty="0"/>
              <a:t>Alexander BOGDAN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152E272-9A02-4244-4492-6B433306168D}"/>
              </a:ext>
            </a:extLst>
          </p:cNvPr>
          <p:cNvSpPr txBox="1">
            <a:spLocks/>
          </p:cNvSpPr>
          <p:nvPr/>
        </p:nvSpPr>
        <p:spPr>
          <a:xfrm>
            <a:off x="2213339" y="3071791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effectLst/>
              </a:rPr>
              <a:t>Special Topics in Software Engineering Project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69FBD-9B5D-4A10-7677-8C1F0AD20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ffectLst/>
              </a:rPr>
              <a:t>Project Context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7BF1E-AD10-127F-30DC-663E9DE32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5470" y="1869085"/>
            <a:ext cx="7765322" cy="4058751"/>
          </a:xfrm>
        </p:spPr>
        <p:txBody>
          <a:bodyPr>
            <a:normAutofit/>
          </a:bodyPr>
          <a:lstStyle/>
          <a:p>
            <a:pPr lvl="0" algn="ctr"/>
            <a:endParaRPr lang="en-US" dirty="0">
              <a:effectLst/>
            </a:endParaRPr>
          </a:p>
          <a:p>
            <a:pPr lvl="0" algn="ctr"/>
            <a:r>
              <a:rPr lang="en-US" dirty="0">
                <a:effectLst/>
              </a:rPr>
              <a:t>- Login Attempt API</a:t>
            </a:r>
          </a:p>
          <a:p>
            <a:pPr marL="36900" indent="0" algn="ctr">
              <a:buNone/>
            </a:pPr>
            <a:endParaRPr lang="en-US" dirty="0">
              <a:effectLst/>
            </a:endParaRPr>
          </a:p>
          <a:p>
            <a:pPr lvl="0" algn="ctr"/>
            <a:r>
              <a:rPr lang="en-US" dirty="0">
                <a:effectLst/>
              </a:rPr>
              <a:t>  - Centralizes login attempt events for security monitoring and audit trails.</a:t>
            </a:r>
          </a:p>
          <a:p>
            <a:pPr lvl="0" algn="ctr"/>
            <a:r>
              <a:rPr lang="en-US" dirty="0">
                <a:effectLst/>
              </a:rPr>
              <a:t>  - Enables detection of brute‑force and suspicious activity patterns.</a:t>
            </a:r>
          </a:p>
          <a:p>
            <a:pPr lvl="0" algn="ctr"/>
            <a:r>
              <a:rPr lang="en-US" dirty="0">
                <a:effectLst/>
              </a:rPr>
              <a:t>  - Provides a clean, auditable store for login telemetry.</a:t>
            </a:r>
          </a:p>
        </p:txBody>
      </p:sp>
    </p:spTree>
    <p:extLst>
      <p:ext uri="{BB962C8B-B14F-4D97-AF65-F5344CB8AC3E}">
        <p14:creationId xmlns:p14="http://schemas.microsoft.com/office/powerpoint/2010/main" val="1422091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C4AF9-102E-3BA0-320F-2AC7944AB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</a:rPr>
              <a:t>Security‑oriented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FF0FE-E6AA-6ABA-F075-B757F1B42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 algn="ctr">
              <a:buNone/>
            </a:pPr>
            <a:endParaRPr lang="en-US" dirty="0">
              <a:effectLst/>
            </a:endParaRPr>
          </a:p>
          <a:p>
            <a:pPr lvl="0" algn="ctr"/>
            <a:endParaRPr lang="en-US" dirty="0">
              <a:effectLst/>
            </a:endParaRPr>
          </a:p>
          <a:p>
            <a:pPr lvl="0" algn="ctr"/>
            <a:r>
              <a:rPr lang="en-US" dirty="0">
                <a:effectLst/>
              </a:rPr>
              <a:t>Rate limiting on ingest endpoint (5/min per client IP).</a:t>
            </a:r>
          </a:p>
          <a:p>
            <a:pPr lvl="0" algn="ctr"/>
            <a:r>
              <a:rPr lang="en-US" dirty="0">
                <a:effectLst/>
              </a:rPr>
              <a:t>  - Server‑side validation of request payloads.</a:t>
            </a:r>
          </a:p>
          <a:p>
            <a:pPr lvl="0" algn="ctr"/>
            <a:r>
              <a:rPr lang="en-US" dirty="0">
                <a:effectLst/>
              </a:rPr>
              <a:t>  - Error envelope standardization to avoid leaking internals.</a:t>
            </a:r>
          </a:p>
          <a:p>
            <a:pPr lvl="0" algn="ctr"/>
            <a:r>
              <a:rPr lang="en-US" dirty="0">
                <a:effectLst/>
              </a:rPr>
              <a:t>  - Elasticsearch auth enabled; credentials injected via environment.</a:t>
            </a:r>
          </a:p>
          <a:p>
            <a:pPr lvl="0" algn="ctr"/>
            <a:r>
              <a:rPr lang="en-US" dirty="0">
                <a:effectLst/>
              </a:rPr>
              <a:t>  - Alerting based on failed attempts + time window + threshold.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65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016D2-DE2D-1123-8585-BE6A239BE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36AA7-9536-46D3-5A76-DF4B96493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 algn="ctr">
              <a:buNone/>
            </a:pPr>
            <a:endParaRPr lang="en-US" dirty="0">
              <a:effectLst/>
            </a:endParaRPr>
          </a:p>
          <a:p>
            <a:pPr lvl="0" algn="ctr"/>
            <a:endParaRPr lang="en-US" dirty="0">
              <a:effectLst/>
            </a:endParaRPr>
          </a:p>
          <a:p>
            <a:pPr lvl="0" algn="ctr"/>
            <a:r>
              <a:rPr lang="en-US" dirty="0">
                <a:effectLst/>
              </a:rPr>
              <a:t> Create login attempts with username, IP, success/failure, user‑agent, timestamp.</a:t>
            </a:r>
          </a:p>
          <a:p>
            <a:pPr lvl="0" algn="ctr"/>
            <a:r>
              <a:rPr lang="en-US" dirty="0">
                <a:effectLst/>
              </a:rPr>
              <a:t>  - Search and paginate attempts; filter by username.</a:t>
            </a:r>
          </a:p>
          <a:p>
            <a:pPr lvl="0" algn="ctr"/>
            <a:r>
              <a:rPr lang="en-US" dirty="0">
                <a:effectLst/>
              </a:rPr>
              <a:t>  - Update or delete attempts by ID (administrative ops).</a:t>
            </a:r>
          </a:p>
          <a:p>
            <a:pPr lvl="0" algn="ctr"/>
            <a:r>
              <a:rPr lang="en-US" dirty="0">
                <a:effectLst/>
              </a:rPr>
              <a:t>  - Alert endpoint aggregates repeated failed logins in the last 5 minutes.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189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B32A2-81B9-0E49-742F-6D63F6B60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</a:rPr>
              <a:t>High‑level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9EDF1-208E-4040-8E9E-E26A23B7E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ctr"/>
            <a:endParaRPr lang="en-US" sz="1400" dirty="0"/>
          </a:p>
          <a:p>
            <a:pPr lvl="0" algn="ctr"/>
            <a:r>
              <a:rPr lang="en-US" sz="1400" dirty="0"/>
              <a:t>  - </a:t>
            </a:r>
            <a:r>
              <a:rPr lang="en-US" sz="1400" dirty="0" err="1"/>
              <a:t>FastAPI</a:t>
            </a:r>
            <a:r>
              <a:rPr lang="en-US" sz="1400" dirty="0"/>
              <a:t> service exposes REST endpoints.</a:t>
            </a:r>
          </a:p>
          <a:p>
            <a:pPr lvl="0" algn="ctr"/>
            <a:r>
              <a:rPr lang="en-US" sz="1400" dirty="0"/>
              <a:t>  - Elasticsearch stores attempt documents and supports aggregation queries.</a:t>
            </a:r>
          </a:p>
          <a:p>
            <a:pPr lvl="0" algn="ctr"/>
            <a:r>
              <a:rPr lang="en-US" sz="1400" dirty="0"/>
              <a:t>  - Docker Compose orchestrates services for local deployment.</a:t>
            </a:r>
          </a:p>
          <a:p>
            <a:pPr lvl="0" algn="ctr"/>
            <a:endParaRPr lang="en-US" sz="1400" dirty="0"/>
          </a:p>
          <a:p>
            <a:pPr lvl="0" algn="ctr"/>
            <a:r>
              <a:rPr lang="en-US" sz="1400" dirty="0"/>
              <a:t>  - </a:t>
            </a:r>
            <a:r>
              <a:rPr lang="en-US" sz="1400" dirty="0" err="1"/>
              <a:t>FastAPI</a:t>
            </a:r>
            <a:r>
              <a:rPr lang="en-US" sz="1400" dirty="0"/>
              <a:t> + </a:t>
            </a:r>
            <a:r>
              <a:rPr lang="en-US" sz="1400" dirty="0" err="1"/>
              <a:t>Uvicorn</a:t>
            </a:r>
            <a:r>
              <a:rPr lang="en-US" sz="1400" dirty="0"/>
              <a:t> (API)</a:t>
            </a:r>
          </a:p>
          <a:p>
            <a:pPr lvl="0" algn="ctr"/>
            <a:r>
              <a:rPr lang="en-US" sz="1400" dirty="0"/>
              <a:t>  - Elasticsearch 9.x (storage + search)</a:t>
            </a:r>
          </a:p>
          <a:p>
            <a:pPr lvl="0" algn="ctr"/>
            <a:r>
              <a:rPr lang="en-US" sz="1400" dirty="0"/>
              <a:t>  - </a:t>
            </a:r>
            <a:r>
              <a:rPr lang="en-US" sz="1400" dirty="0" err="1"/>
              <a:t>SlowAPI</a:t>
            </a:r>
            <a:r>
              <a:rPr lang="en-US" sz="1400" dirty="0"/>
              <a:t> (rate limiting)</a:t>
            </a:r>
          </a:p>
          <a:p>
            <a:pPr lvl="0" algn="ctr"/>
            <a:r>
              <a:rPr lang="en-US" sz="1400" dirty="0"/>
              <a:t>  - </a:t>
            </a:r>
            <a:r>
              <a:rPr lang="en-US" sz="1400" dirty="0" err="1"/>
              <a:t>Pydantic</a:t>
            </a:r>
            <a:r>
              <a:rPr lang="en-US" sz="1400" dirty="0"/>
              <a:t> (validation)</a:t>
            </a:r>
          </a:p>
          <a:p>
            <a:pPr lvl="0" algn="ctr"/>
            <a:r>
              <a:rPr lang="en-US" sz="1400" dirty="0"/>
              <a:t>  - Docker + Compose (infra)</a:t>
            </a:r>
          </a:p>
        </p:txBody>
      </p:sp>
    </p:spTree>
    <p:extLst>
      <p:ext uri="{BB962C8B-B14F-4D97-AF65-F5344CB8AC3E}">
        <p14:creationId xmlns:p14="http://schemas.microsoft.com/office/powerpoint/2010/main" val="4221019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F8542-90BB-B353-1096-A5ABBCDEA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</a:rPr>
              <a:t>Key Data 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44800-2C2C-3455-06DA-42D6A0867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ctr"/>
            <a:endParaRPr lang="en-US" dirty="0">
              <a:effectLst/>
            </a:endParaRPr>
          </a:p>
          <a:p>
            <a:pPr lvl="0" algn="ctr"/>
            <a:endParaRPr lang="en-US" dirty="0">
              <a:effectLst/>
            </a:endParaRPr>
          </a:p>
          <a:p>
            <a:pPr lvl="0" algn="ctr"/>
            <a:r>
              <a:rPr lang="en-US" dirty="0">
                <a:effectLst/>
              </a:rPr>
              <a:t>- Client → POST /login-attempts → </a:t>
            </a:r>
            <a:r>
              <a:rPr lang="en-US" dirty="0" err="1">
                <a:effectLst/>
              </a:rPr>
              <a:t>FastAPI</a:t>
            </a:r>
            <a:r>
              <a:rPr lang="en-US" dirty="0">
                <a:effectLst/>
              </a:rPr>
              <a:t> validates → Elasticsearch index</a:t>
            </a:r>
          </a:p>
          <a:p>
            <a:pPr lvl="0" algn="ctr"/>
            <a:r>
              <a:rPr lang="en-US" dirty="0">
                <a:effectLst/>
              </a:rPr>
              <a:t>- Client → GET /alerts/failed-logins → Elasticsearch aggregation → risk signal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105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Login Attempts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/>
              <a:t> </a:t>
            </a:r>
          </a:p>
          <a:p>
            <a:pPr algn="ctr"/>
            <a:r>
              <a:rPr lang="en-US" dirty="0"/>
              <a:t>- Early warning signal for brute‑force and credential‑stuffing activity</a:t>
            </a:r>
          </a:p>
          <a:p>
            <a:pPr algn="ctr"/>
            <a:r>
              <a:rPr lang="en-US" dirty="0"/>
              <a:t>  - Enables account‑takeover prevention and rapid incident response</a:t>
            </a:r>
          </a:p>
          <a:p>
            <a:pPr algn="ctr"/>
            <a:r>
              <a:rPr lang="en-US" dirty="0"/>
              <a:t>  - Creates an auditable trail for compliance and forensics</a:t>
            </a:r>
          </a:p>
          <a:p>
            <a:pPr algn="ctr"/>
            <a:r>
              <a:rPr lang="en-US" dirty="0"/>
              <a:t>  - Supports risk scoring (IP, user, time window patterns)</a:t>
            </a:r>
          </a:p>
          <a:p>
            <a:pPr algn="ctr"/>
            <a:r>
              <a:rPr lang="en-US" dirty="0"/>
              <a:t>  - Improves security posture with measurable login telemetry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Login Endpoint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r>
              <a:rPr lang="en-US" dirty="0"/>
              <a:t>Validate input (username, password, IP, user‑agent)</a:t>
            </a:r>
          </a:p>
          <a:p>
            <a:pPr algn="ctr"/>
            <a:r>
              <a:rPr lang="en-US" dirty="0"/>
              <a:t>  - Authenticate credentials against user store</a:t>
            </a:r>
          </a:p>
          <a:p>
            <a:pPr algn="ctr"/>
            <a:r>
              <a:rPr lang="en-US" dirty="0"/>
              <a:t>  - Record attempt (success/failure + timestamp + metadata)</a:t>
            </a:r>
          </a:p>
          <a:p>
            <a:pPr algn="ctr"/>
            <a:r>
              <a:rPr lang="en-US" dirty="0"/>
              <a:t>  - Apply rate‑limit / lockout rules on repeated failures</a:t>
            </a:r>
          </a:p>
          <a:p>
            <a:pPr algn="ctr"/>
            <a:r>
              <a:rPr lang="en-US" dirty="0"/>
              <a:t>  - Return response (token on success, error on failure) and trigger alerts if needed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346" y="581574"/>
            <a:ext cx="7765322" cy="970450"/>
          </a:xfrm>
        </p:spPr>
        <p:txBody>
          <a:bodyPr/>
          <a:lstStyle/>
          <a:p>
            <a:r>
              <a:rPr dirty="0"/>
              <a:t>Elasticsearch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r>
              <a:rPr lang="en-US" dirty="0"/>
              <a:t> Primary store for login attempt documents</a:t>
            </a:r>
          </a:p>
          <a:p>
            <a:pPr algn="ctr"/>
            <a:r>
              <a:rPr lang="en-US" dirty="0"/>
              <a:t>  - Fast search/filter by user, IP, time range, success</a:t>
            </a:r>
          </a:p>
          <a:p>
            <a:pPr algn="ctr"/>
            <a:r>
              <a:rPr lang="en-US" dirty="0"/>
              <a:t>  - Aggregations for security signals (failed bursts, per‑user counts)</a:t>
            </a:r>
          </a:p>
          <a:p>
            <a:pPr algn="ctr"/>
            <a:r>
              <a:rPr lang="en-US" dirty="0"/>
              <a:t>  - Near‑real‑time visibility for monitoring and alerting</a:t>
            </a:r>
          </a:p>
          <a:p>
            <a:pPr algn="ctr"/>
            <a:r>
              <a:rPr lang="en-US" dirty="0"/>
              <a:t>  - Scales horizontally as event volume grows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Elasticsearch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/>
              <a:t>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- Runs as a single‑node service via Docker Compose</a:t>
            </a:r>
          </a:p>
          <a:p>
            <a:pPr algn="ctr"/>
            <a:r>
              <a:rPr lang="en-US" dirty="0"/>
              <a:t>  - Security enabled; password set via environment variable</a:t>
            </a:r>
          </a:p>
          <a:p>
            <a:pPr algn="ctr"/>
            <a:r>
              <a:rPr lang="en-US" dirty="0"/>
              <a:t>  - HTTP SSL disabled for local dev simplicity</a:t>
            </a:r>
          </a:p>
          <a:p>
            <a:pPr algn="ctr"/>
            <a:r>
              <a:rPr lang="en-US" dirty="0"/>
              <a:t>  - Port 9200 exposed for API access</a:t>
            </a:r>
          </a:p>
          <a:p>
            <a:pPr algn="ctr"/>
            <a:r>
              <a:rPr lang="en-US" dirty="0"/>
              <a:t>  - </a:t>
            </a:r>
            <a:r>
              <a:rPr lang="en-US" dirty="0" err="1"/>
              <a:t>Healthcheck</a:t>
            </a:r>
            <a:r>
              <a:rPr lang="en-US" dirty="0"/>
              <a:t> gates API startup until ES is ready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Setup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r>
              <a:rPr lang="en-US" dirty="0"/>
              <a:t> - Elasticsearch heap sizing vs. local memory limits</a:t>
            </a:r>
          </a:p>
          <a:p>
            <a:pPr algn="ctr"/>
            <a:r>
              <a:rPr lang="en-US" dirty="0"/>
              <a:t>  - Startup ordering/health checks between API and ES</a:t>
            </a:r>
          </a:p>
          <a:p>
            <a:pPr algn="ctr"/>
            <a:r>
              <a:rPr lang="en-US" dirty="0"/>
              <a:t>  - Auth configuration and password management in dev</a:t>
            </a:r>
          </a:p>
          <a:p>
            <a:pPr algn="ctr"/>
            <a:r>
              <a:rPr lang="en-US" dirty="0"/>
              <a:t>  - Index mapping choices for accurate queries</a:t>
            </a:r>
          </a:p>
          <a:p>
            <a:pPr algn="ctr"/>
            <a:r>
              <a:rPr lang="en-US" dirty="0"/>
              <a:t>  - Handling SSL settings across dev vs. prod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Security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r>
              <a:rPr lang="en-US" dirty="0"/>
              <a:t>- Elasticsearch auth enabled; credentials via environment variables</a:t>
            </a:r>
          </a:p>
          <a:p>
            <a:pPr algn="ctr"/>
            <a:r>
              <a:rPr lang="en-US" dirty="0"/>
              <a:t>  - Rate limiting on login attempt ingestion</a:t>
            </a:r>
          </a:p>
          <a:p>
            <a:pPr algn="ctr"/>
            <a:r>
              <a:rPr lang="en-US" dirty="0"/>
              <a:t>  - Input validation with strict schemas</a:t>
            </a:r>
          </a:p>
          <a:p>
            <a:pPr algn="ctr"/>
            <a:r>
              <a:rPr lang="en-US" dirty="0"/>
              <a:t>  - Consistent error responses to reduce info leakage</a:t>
            </a:r>
          </a:p>
          <a:p>
            <a:pPr algn="ctr"/>
            <a:r>
              <a:rPr lang="en-US" dirty="0"/>
              <a:t>  - Alerting based on failed‑login thresholds within time window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Testing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r>
              <a:rPr lang="en-US" dirty="0"/>
              <a:t> - API smoke tests for all endpoints (create, list, get, update, delete)</a:t>
            </a:r>
          </a:p>
          <a:p>
            <a:pPr algn="ctr"/>
            <a:r>
              <a:rPr lang="en-US" dirty="0"/>
              <a:t>  - Validation tests for missing/invalid fields</a:t>
            </a:r>
          </a:p>
          <a:p>
            <a:pPr algn="ctr"/>
            <a:r>
              <a:rPr lang="en-US" dirty="0"/>
              <a:t>  - Rate‑limit behavior under repeated requests</a:t>
            </a:r>
          </a:p>
          <a:p>
            <a:pPr algn="ctr"/>
            <a:r>
              <a:rPr lang="en-US" dirty="0"/>
              <a:t>  - Elasticsearch integration checks (indexing + querying)</a:t>
            </a:r>
          </a:p>
          <a:p>
            <a:pPr algn="ctr"/>
            <a:r>
              <a:rPr lang="en-US" dirty="0"/>
              <a:t>  - Alert endpoint tests with simulated failed bursts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Development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/>
              <a:t> </a:t>
            </a:r>
          </a:p>
          <a:p>
            <a:pPr algn="ctr"/>
            <a:r>
              <a:rPr lang="en-US" dirty="0"/>
              <a:t>- Clear event schema makes security analytics reliable</a:t>
            </a:r>
          </a:p>
          <a:p>
            <a:pPr algn="ctr"/>
            <a:r>
              <a:rPr lang="en-US" dirty="0"/>
              <a:t>  - Rate limiting reduces abuse and protects downstream storage</a:t>
            </a:r>
          </a:p>
          <a:p>
            <a:pPr algn="ctr"/>
            <a:r>
              <a:rPr lang="en-US" dirty="0"/>
              <a:t>  - Elasticsearch aggregations are powerful for alerting logic</a:t>
            </a:r>
          </a:p>
          <a:p>
            <a:pPr algn="ctr"/>
            <a:r>
              <a:rPr lang="en-US" dirty="0"/>
              <a:t>  - Docker Compose simplifies local infra parity</a:t>
            </a:r>
          </a:p>
          <a:p>
            <a:pPr algn="ctr"/>
            <a:r>
              <a:rPr lang="en-US" dirty="0"/>
              <a:t>  - Observability needs grow quickly with auth‑related systems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7E766-A864-6C93-9F75-E38778F66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3339" y="2943775"/>
            <a:ext cx="7765322" cy="97045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Thank you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21737572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30</TotalTime>
  <Words>727</Words>
  <Application>Microsoft Macintosh PowerPoint</Application>
  <PresentationFormat>Widescreen</PresentationFormat>
  <Paragraphs>100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 Boardroom</vt:lpstr>
      <vt:lpstr>Login Attempt Monitoring API</vt:lpstr>
      <vt:lpstr>Project Context</vt:lpstr>
      <vt:lpstr>Security‑oriented Design</vt:lpstr>
      <vt:lpstr>Core capabilities</vt:lpstr>
      <vt:lpstr>High‑level Architecture</vt:lpstr>
      <vt:lpstr>Key Data Flow</vt:lpstr>
      <vt:lpstr>Why Login Attempts</vt:lpstr>
      <vt:lpstr>Login Endpoint Logic</vt:lpstr>
      <vt:lpstr>Elasticsearch Role</vt:lpstr>
      <vt:lpstr>Elasticsearch Setup</vt:lpstr>
      <vt:lpstr>Setup Challenges</vt:lpstr>
      <vt:lpstr>Security Configuration</vt:lpstr>
      <vt:lpstr>Testing the Project</vt:lpstr>
      <vt:lpstr>Development Takeaways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Horia-Alexandru STĂNESCU (110543)</dc:creator>
  <cp:lastModifiedBy>Horia-Alexandru STĂNESCU (110543)</cp:lastModifiedBy>
  <cp:revision>3</cp:revision>
  <dcterms:created xsi:type="dcterms:W3CDTF">2026-01-20T17:08:50Z</dcterms:created>
  <dcterms:modified xsi:type="dcterms:W3CDTF">2026-01-26T14:43:50Z</dcterms:modified>
</cp:coreProperties>
</file>